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6" r:id="rId6"/>
    <p:sldId id="267" r:id="rId7"/>
    <p:sldId id="260" r:id="rId8"/>
    <p:sldId id="262" r:id="rId9"/>
    <p:sldId id="261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  <p:bold r:id="rId24"/>
    </p:embeddedFont>
    <p:embeddedFont>
      <p:font typeface="Roboto Slab" panose="020B0604020202020204" charset="0"/>
      <p:regular r:id="rId2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C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62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7624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277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6.pn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Мультимедийная галерея с защитой авторских прав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Веб-приложение для профессиональных фотографов с системой управления контентом и защитой интеллектуальной собственности</a:t>
            </a:r>
            <a:endParaRPr lang="en-US" sz="175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E7C1CB7-39BE-4ACD-B859-4D4FC350E4FE}"/>
              </a:ext>
            </a:extLst>
          </p:cNvPr>
          <p:cNvSpPr/>
          <p:nvPr/>
        </p:nvSpPr>
        <p:spPr>
          <a:xfrm>
            <a:off x="12812684" y="7775171"/>
            <a:ext cx="1762298" cy="360218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34127"/>
            <a:ext cx="1710690" cy="426244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702112"/>
            <a:ext cx="14385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ОБЗОР ПРОЕКТА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151096"/>
            <a:ext cx="82513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Цели и назначение системы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404110"/>
            <a:ext cx="760428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Разработанное веб-приложение представляет собой современную платформу для организации и демонстрации фотографических работ. Система построена как Single Page Application (SPA) без использования react-router, обеспечивая мгновенную навигацию между разделами.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422696"/>
            <a:ext cx="760428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Ключевая цель: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Создание профессиональной платформы для систематизации фотоконтента в альбомы с надёжной защитой авторских прав и детальной аналитикой взаимодействия пользователей.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455188"/>
            <a:ext cx="4885015" cy="4885015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9FA4464-E163-4F7E-B3CF-C3230298CF66}"/>
              </a:ext>
            </a:extLst>
          </p:cNvPr>
          <p:cNvSpPr/>
          <p:nvPr/>
        </p:nvSpPr>
        <p:spPr>
          <a:xfrm>
            <a:off x="12812684" y="7775171"/>
            <a:ext cx="1762298" cy="360218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17895" y="899279"/>
            <a:ext cx="2348627" cy="300514"/>
          </a:xfrm>
          <a:prstGeom prst="roundRect">
            <a:avLst>
              <a:gd name="adj" fmla="val 6065"/>
            </a:avLst>
          </a:prstGeom>
          <a:noFill/>
          <a:ln w="7620">
            <a:solidFill>
              <a:srgbClr val="3257B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116598" y="952381"/>
            <a:ext cx="2151221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ФУНКЦИОНАЛЬНЫЕ ВОЗМОЖНОСТИ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017895" y="1260515"/>
            <a:ext cx="8081010" cy="949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Возможности для разных типов пользователей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6017895" y="2437448"/>
            <a:ext cx="3964543" cy="2370534"/>
          </a:xfrm>
          <a:prstGeom prst="roundRect">
            <a:avLst>
              <a:gd name="adj" fmla="val 961"/>
            </a:avLst>
          </a:prstGeom>
          <a:solidFill>
            <a:srgbClr val="E9ECF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700" y="2589252"/>
            <a:ext cx="455533" cy="455533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4953" y="2714506"/>
            <a:ext cx="205026" cy="2050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69700" y="3196590"/>
            <a:ext cx="3260169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Неавторизованные пользователи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6169700" y="3524845"/>
            <a:ext cx="3660934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Просмотр публичных фотографий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6169700" y="3820954"/>
            <a:ext cx="3660934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Фильтрация по альбомам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6169700" y="4117062"/>
            <a:ext cx="3660934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Поиск по названию и тегам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6169700" y="4413171"/>
            <a:ext cx="3660934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Просмотр тематических коллекций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10134243" y="2437448"/>
            <a:ext cx="3964662" cy="2370534"/>
          </a:xfrm>
          <a:prstGeom prst="roundRect">
            <a:avLst>
              <a:gd name="adj" fmla="val 961"/>
            </a:avLst>
          </a:prstGeom>
          <a:solidFill>
            <a:srgbClr val="E9ECF2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6048" y="2589252"/>
            <a:ext cx="455533" cy="455533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11301" y="2714506"/>
            <a:ext cx="205026" cy="20502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286048" y="3196590"/>
            <a:ext cx="1898333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Фотограф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10286048" y="3524845"/>
            <a:ext cx="3661053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Загрузка новых работ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10286048" y="3820954"/>
            <a:ext cx="3661053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 и управление альбомами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10286048" y="4117062"/>
            <a:ext cx="3661053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Добавление водяных знаков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10286048" y="4413171"/>
            <a:ext cx="3661053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Просмотр детальной статистики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6017895" y="4959787"/>
            <a:ext cx="8081010" cy="2370534"/>
          </a:xfrm>
          <a:prstGeom prst="roundRect">
            <a:avLst>
              <a:gd name="adj" fmla="val 961"/>
            </a:avLst>
          </a:prstGeom>
          <a:solidFill>
            <a:srgbClr val="E9ECF2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9700" y="5111591"/>
            <a:ext cx="455533" cy="455533"/>
          </a:xfrm>
          <a:prstGeom prst="rect">
            <a:avLst/>
          </a:prstGeom>
        </p:spPr>
      </p:pic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94953" y="5236845"/>
            <a:ext cx="205026" cy="20502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169700" y="5718929"/>
            <a:ext cx="1898333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Администратор</a:t>
            </a:r>
            <a:endParaRPr lang="en-US" sz="1450" dirty="0"/>
          </a:p>
        </p:txBody>
      </p:sp>
      <p:sp>
        <p:nvSpPr>
          <p:cNvPr id="26" name="Text 17"/>
          <p:cNvSpPr/>
          <p:nvPr/>
        </p:nvSpPr>
        <p:spPr>
          <a:xfrm>
            <a:off x="6169700" y="6047184"/>
            <a:ext cx="7777401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Полный контроль над галереей</a:t>
            </a:r>
            <a:endParaRPr lang="en-US" sz="1150" dirty="0"/>
          </a:p>
        </p:txBody>
      </p:sp>
      <p:sp>
        <p:nvSpPr>
          <p:cNvPr id="27" name="Text 18"/>
          <p:cNvSpPr/>
          <p:nvPr/>
        </p:nvSpPr>
        <p:spPr>
          <a:xfrm>
            <a:off x="6169700" y="6343293"/>
            <a:ext cx="7777401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CRUD операции с контентом</a:t>
            </a:r>
            <a:endParaRPr lang="en-US" sz="1150" dirty="0"/>
          </a:p>
        </p:txBody>
      </p:sp>
      <p:sp>
        <p:nvSpPr>
          <p:cNvPr id="28" name="Text 19"/>
          <p:cNvSpPr/>
          <p:nvPr/>
        </p:nvSpPr>
        <p:spPr>
          <a:xfrm>
            <a:off x="6169700" y="6639401"/>
            <a:ext cx="7777401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Управление лицензиями</a:t>
            </a:r>
            <a:endParaRPr lang="en-US" sz="1150" dirty="0"/>
          </a:p>
        </p:txBody>
      </p:sp>
      <p:sp>
        <p:nvSpPr>
          <p:cNvPr id="29" name="Text 20"/>
          <p:cNvSpPr/>
          <p:nvPr/>
        </p:nvSpPr>
        <p:spPr>
          <a:xfrm>
            <a:off x="6169700" y="6935510"/>
            <a:ext cx="7777401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Настройка прав доступа</a:t>
            </a:r>
            <a:endParaRPr lang="en-US" sz="1150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AE6DFC7-8F61-41F2-A7C9-040B0A77041A}"/>
              </a:ext>
            </a:extLst>
          </p:cNvPr>
          <p:cNvSpPr/>
          <p:nvPr/>
        </p:nvSpPr>
        <p:spPr>
          <a:xfrm>
            <a:off x="12812684" y="7775171"/>
            <a:ext cx="1762298" cy="360218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69407"/>
            <a:ext cx="1733431" cy="426244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1091803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037392"/>
            <a:ext cx="11890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ТЕХНОЛОГИИ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486376"/>
            <a:ext cx="90276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Технологический стек проекта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793790" y="2535317"/>
            <a:ext cx="4196358" cy="4724757"/>
          </a:xfrm>
          <a:prstGeom prst="roundRect">
            <a:avLst>
              <a:gd name="adj" fmla="val 811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4270" y="2565797"/>
            <a:ext cx="4135398" cy="680442"/>
          </a:xfrm>
          <a:prstGeom prst="rect">
            <a:avLst/>
          </a:prstGeom>
          <a:solidFill>
            <a:srgbClr val="E9ECF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21888" y="2735818"/>
            <a:ext cx="340162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084" y="3473053"/>
            <a:ext cx="29696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Frontend-фреймворк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51084" y="3963472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19.2.0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современная библиотека для построения интерактивных пользовательских интерфейсов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51084" y="5551170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TypeScript 5.9.3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строгая типизация для повышения надёжности и поддерживаемости кода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216962" y="2535317"/>
            <a:ext cx="4196358" cy="4724757"/>
          </a:xfrm>
          <a:prstGeom prst="roundRect">
            <a:avLst>
              <a:gd name="adj" fmla="val 811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247442" y="2565797"/>
            <a:ext cx="4135398" cy="680442"/>
          </a:xfrm>
          <a:prstGeom prst="rect">
            <a:avLst/>
          </a:prstGeom>
          <a:solidFill>
            <a:srgbClr val="E9ECF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5060" y="2735818"/>
            <a:ext cx="340162" cy="3401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74256" y="3473053"/>
            <a:ext cx="31161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Инструменты сборки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5474256" y="3963472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Vite (rolldown-vite 7.3.0)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быстрый современный бандлер с мгновенной горячей перезагрузкой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5474256" y="5551170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SCSS/SASS 1.97.1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мощный препроцессор для создания модульных стилей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9640133" y="2535317"/>
            <a:ext cx="4196358" cy="4724757"/>
          </a:xfrm>
          <a:prstGeom prst="roundRect">
            <a:avLst>
              <a:gd name="adj" fmla="val 811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670613" y="2565797"/>
            <a:ext cx="4135398" cy="680442"/>
          </a:xfrm>
          <a:prstGeom prst="rect">
            <a:avLst/>
          </a:prstGeom>
          <a:solidFill>
            <a:srgbClr val="E9ECF2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68232" y="2735818"/>
            <a:ext cx="340162" cy="34016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897427" y="34730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Backend и данные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9897427" y="3963472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Firebase 12.7.0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облачная платформа для хранения данных в реальном времени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9897427" y="5188268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MobX 6.15.0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реактивная библиотека управления состоянием приложения</a:t>
            </a:r>
            <a:endParaRPr lang="en-US" sz="175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951EC42-AD7F-45DE-A485-085286E78E3F}"/>
              </a:ext>
            </a:extLst>
          </p:cNvPr>
          <p:cNvSpPr/>
          <p:nvPr/>
        </p:nvSpPr>
        <p:spPr>
          <a:xfrm>
            <a:off x="12812684" y="7775171"/>
            <a:ext cx="1762298" cy="360218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7450" y="703811"/>
            <a:ext cx="7117967" cy="497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ru-RU" sz="3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</a:rPr>
              <a:t>Контекстная диаграмма </a:t>
            </a:r>
            <a:endParaRPr lang="en-US" sz="3200" dirty="0">
              <a:solidFill>
                <a:srgbClr val="3257B8"/>
              </a:solidFill>
              <a:latin typeface="Roboto Slab" pitchFamily="34" charset="0"/>
              <a:ea typeface="Roboto Slab" pitchFamily="34" charset="-122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2D667D7-3F64-40CD-8656-FB0FF0E3D52F}"/>
              </a:ext>
            </a:extLst>
          </p:cNvPr>
          <p:cNvSpPr/>
          <p:nvPr/>
        </p:nvSpPr>
        <p:spPr>
          <a:xfrm>
            <a:off x="12812684" y="7775171"/>
            <a:ext cx="1762298" cy="360218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5876E985-3194-4582-B837-89D6E64A7125}"/>
              </a:ext>
            </a:extLst>
          </p:cNvPr>
          <p:cNvSpPr/>
          <p:nvPr/>
        </p:nvSpPr>
        <p:spPr>
          <a:xfrm>
            <a:off x="557450" y="1458579"/>
            <a:ext cx="13269385" cy="1310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ru-RU" sz="1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</a:rPr>
              <a:t>Диаграмма IDEF0 показывает основной процесс: «Презентация и защита фоторабот». Входами процесса являются исходные снимки и метаданные, выходами — защищенное веб-портфолио и запросы от клиентов. Управлением служат требования к качеству и политика авторских прав. Механизмами являются фотограф и веб-платформа.</a:t>
            </a:r>
            <a:endParaRPr lang="en-US" sz="1900" dirty="0">
              <a:solidFill>
                <a:srgbClr val="15213F"/>
              </a:solidFill>
              <a:latin typeface="Roboto" pitchFamily="34" charset="0"/>
              <a:ea typeface="Roboto" pitchFamily="34" charset="-122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4CC3362-ECBF-4E72-91F6-AE70C9810B9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302924" y="2721419"/>
            <a:ext cx="7795375" cy="50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35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7450" y="703811"/>
            <a:ext cx="7117967" cy="497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ru-RU" sz="3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</a:rPr>
              <a:t>Диаграмма декомпозиции </a:t>
            </a:r>
            <a:endParaRPr lang="en-US" sz="3200" dirty="0">
              <a:solidFill>
                <a:srgbClr val="3257B8"/>
              </a:solidFill>
              <a:latin typeface="Roboto Slab" pitchFamily="34" charset="0"/>
              <a:ea typeface="Roboto Slab" pitchFamily="34" charset="-122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2D667D7-3F64-40CD-8656-FB0FF0E3D52F}"/>
              </a:ext>
            </a:extLst>
          </p:cNvPr>
          <p:cNvSpPr/>
          <p:nvPr/>
        </p:nvSpPr>
        <p:spPr>
          <a:xfrm>
            <a:off x="12812684" y="7775171"/>
            <a:ext cx="1762298" cy="360218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5876E985-3194-4582-B837-89D6E64A7125}"/>
              </a:ext>
            </a:extLst>
          </p:cNvPr>
          <p:cNvSpPr/>
          <p:nvPr/>
        </p:nvSpPr>
        <p:spPr>
          <a:xfrm>
            <a:off x="557450" y="1458579"/>
            <a:ext cx="13269385" cy="1804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ru-RU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</a:rPr>
              <a:t>Анализ потоков данных (DFD) выявил критическую потребность в разделении хранилища оригинальных изображений высокого разрешения и публичных, защищенных водяными знаками копий. В текущей модели фотограф вынужден выполнять эти операции вручную, что создает «узкие горлышки» при подготовке больших серий снимков. Выявленные проблемы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</a:rPr>
              <a:t>: </a:t>
            </a:r>
            <a:r>
              <a:rPr lang="ru-RU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</a:rPr>
              <a:t>высокая трудоемкость ручного наложения водяных знаков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</a:rPr>
              <a:t>; </a:t>
            </a:r>
            <a:r>
              <a:rPr lang="ru-RU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</a:rPr>
              <a:t>риск потери качества изображений на публичных фотохостингах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</a:rPr>
              <a:t>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B034EE-322F-4E63-96AA-1C1E53EB5064}"/>
              </a:ext>
            </a:extLst>
          </p:cNvPr>
          <p:cNvPicPr/>
          <p:nvPr/>
        </p:nvPicPr>
        <p:blipFill rotWithShape="1">
          <a:blip r:embed="rId3"/>
          <a:srcRect b="11069"/>
          <a:stretch/>
        </p:blipFill>
        <p:spPr>
          <a:xfrm>
            <a:off x="2942705" y="2986693"/>
            <a:ext cx="8351904" cy="488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559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54566" y="1219200"/>
            <a:ext cx="5427107" cy="507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Архитектура приложения</a:t>
            </a:r>
            <a:endParaRPr lang="en-US" sz="3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4566" y="1970008"/>
            <a:ext cx="811649" cy="14549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28498" y="2132290"/>
            <a:ext cx="2793802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Компоненты (components/)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7028498" y="2483287"/>
            <a:ext cx="7033736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Переиспользуемые UI-элементы: базовые компоненты (Button, Input, Modal, Table), компоненты макета (Header, Sidebar), специализированные модули (LoginModal, ConfirmModal)</a:t>
            </a:r>
            <a:endParaRPr lang="en-US" sz="1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4566" y="3424952"/>
            <a:ext cx="811649" cy="119514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28498" y="3587234"/>
            <a:ext cx="2029182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Страницы (pages/)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7028498" y="3938230"/>
            <a:ext cx="7033736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Основные разделы приложения: HomePage, GalleryPage, AlbumsPage, CollectionsPage, AdminPage с собственной логикой и представлением</a:t>
            </a:r>
            <a:endParaRPr lang="en-US" sz="12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4566" y="4620101"/>
            <a:ext cx="811649" cy="119514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28498" y="4782383"/>
            <a:ext cx="2029182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Хранилища (store/)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7028498" y="5133380"/>
            <a:ext cx="7033736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MobX stores для управления состоянием: AuthStore, DataStore, NavigationStore, UIStore обеспечивают централизованное управление данными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4566" y="5815251"/>
            <a:ext cx="811649" cy="119514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028498" y="5977533"/>
            <a:ext cx="2029182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Типы и утилиты</a:t>
            </a:r>
            <a:endParaRPr lang="en-US" sz="1550" dirty="0"/>
          </a:p>
        </p:txBody>
      </p:sp>
      <p:sp>
        <p:nvSpPr>
          <p:cNvPr id="15" name="Text 8"/>
          <p:cNvSpPr/>
          <p:nvPr/>
        </p:nvSpPr>
        <p:spPr>
          <a:xfrm>
            <a:off x="7028498" y="6328529"/>
            <a:ext cx="7033736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TypeScript интерфейсы (types/), вспомогательные функции (utils/), конфигурация Firebase и кастомные React-хуки для переиспользования логики</a:t>
            </a:r>
            <a:endParaRPr lang="en-US" sz="12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A999151-5B3E-4E2D-BDD8-7B296D6A2D07}"/>
              </a:ext>
            </a:extLst>
          </p:cNvPr>
          <p:cNvSpPr/>
          <p:nvPr/>
        </p:nvSpPr>
        <p:spPr>
          <a:xfrm>
            <a:off x="12812684" y="7775171"/>
            <a:ext cx="1762298" cy="360218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7451" y="1097280"/>
            <a:ext cx="7117967" cy="497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ru-RU" sz="3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</a:rPr>
              <a:t>Проектирование БД: Схема данных</a:t>
            </a:r>
            <a:endParaRPr lang="en-US" sz="3100" dirty="0">
              <a:solidFill>
                <a:srgbClr val="3257B8"/>
              </a:solidFill>
              <a:latin typeface="Roboto Slab" pitchFamily="34" charset="0"/>
              <a:ea typeface="Roboto Slab" pitchFamily="34" charset="-122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2D667D7-3F64-40CD-8656-FB0FF0E3D52F}"/>
              </a:ext>
            </a:extLst>
          </p:cNvPr>
          <p:cNvSpPr/>
          <p:nvPr/>
        </p:nvSpPr>
        <p:spPr>
          <a:xfrm>
            <a:off x="12812684" y="7775171"/>
            <a:ext cx="1762298" cy="360218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7F105A2-3FB7-429D-A135-FB45AA6CE90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927072" y="1931410"/>
            <a:ext cx="6068292" cy="5766175"/>
          </a:xfrm>
          <a:prstGeom prst="rect">
            <a:avLst/>
          </a:prstGeom>
        </p:spPr>
      </p:pic>
      <p:sp>
        <p:nvSpPr>
          <p:cNvPr id="25" name="Text 4">
            <a:extLst>
              <a:ext uri="{FF2B5EF4-FFF2-40B4-BE49-F238E27FC236}">
                <a16:creationId xmlns:a16="http://schemas.microsoft.com/office/drawing/2014/main" id="{5876E985-3194-4582-B837-89D6E64A7125}"/>
              </a:ext>
            </a:extLst>
          </p:cNvPr>
          <p:cNvSpPr/>
          <p:nvPr/>
        </p:nvSpPr>
        <p:spPr>
          <a:xfrm>
            <a:off x="557451" y="1931410"/>
            <a:ext cx="6296501" cy="471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ru-RU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</a:rPr>
              <a:t>БД включает сущности 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</a:rPr>
              <a:t>albums</a:t>
            </a:r>
            <a:r>
              <a:rPr lang="ru-RU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</a:rPr>
              <a:t>, 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</a:rPr>
              <a:t>photos </a:t>
            </a:r>
            <a:r>
              <a:rPr lang="ru-RU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</a:rPr>
              <a:t>и 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</a:rPr>
              <a:t>protectionSettings</a:t>
            </a:r>
            <a:r>
              <a:rPr lang="ru-RU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</a:rPr>
              <a:t>. Связи реализованы через идентификаторы UUID. NoSQL структура в Firebase позволяет гибко расширять поля без миграций.</a:t>
            </a:r>
            <a:endParaRPr lang="en-US" dirty="0">
              <a:solidFill>
                <a:srgbClr val="15213F"/>
              </a:solidFill>
              <a:latin typeface="Roboto" pitchFamily="34" charset="0"/>
              <a:ea typeface="Roboto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97869" y="463391"/>
            <a:ext cx="1920716" cy="315992"/>
          </a:xfrm>
          <a:prstGeom prst="roundRect">
            <a:avLst>
              <a:gd name="adj" fmla="val 6385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2098715" y="513755"/>
            <a:ext cx="1719024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СИСТЕМА БЕЗОПАСНОСТИ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97869" y="846534"/>
            <a:ext cx="4656892" cy="52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Роли и права доступа</a:t>
            </a:r>
            <a:endParaRPr lang="en-US" sz="3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869" y="1813084"/>
            <a:ext cx="3455551" cy="34555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3265" y="1981200"/>
            <a:ext cx="6516529" cy="168116"/>
          </a:xfrm>
          <a:prstGeom prst="roundRect">
            <a:avLst>
              <a:gd name="adj" fmla="val 15002"/>
            </a:avLst>
          </a:prstGeom>
          <a:solidFill>
            <a:srgbClr val="E9ECF2"/>
          </a:solidFill>
          <a:ln/>
        </p:spPr>
      </p:sp>
      <p:sp>
        <p:nvSpPr>
          <p:cNvPr id="7" name="Shape 4"/>
          <p:cNvSpPr/>
          <p:nvPr/>
        </p:nvSpPr>
        <p:spPr>
          <a:xfrm>
            <a:off x="5871091" y="1813084"/>
            <a:ext cx="504349" cy="504349"/>
          </a:xfrm>
          <a:prstGeom prst="roundRect">
            <a:avLst>
              <a:gd name="adj" fmla="val 90652"/>
            </a:avLst>
          </a:prstGeom>
          <a:solidFill>
            <a:srgbClr val="E9ECF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7178" y="1939171"/>
            <a:ext cx="252174" cy="2521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39207" y="2485549"/>
            <a:ext cx="2341007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Viewer (Наблюдатель)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039207" y="2916317"/>
            <a:ext cx="6432590" cy="53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Роль по умолчанию. Просмотр публичных фотографий и альбомов без возможности скачивания. Доступ к общедоступному контенту.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375440" y="3958590"/>
            <a:ext cx="6264354" cy="168116"/>
          </a:xfrm>
          <a:prstGeom prst="roundRect">
            <a:avLst>
              <a:gd name="adj" fmla="val 15002"/>
            </a:avLst>
          </a:prstGeom>
          <a:solidFill>
            <a:srgbClr val="E9ECF2"/>
          </a:solidFill>
          <a:ln/>
        </p:spPr>
      </p:sp>
      <p:sp>
        <p:nvSpPr>
          <p:cNvPr id="12" name="Shape 8"/>
          <p:cNvSpPr/>
          <p:nvPr/>
        </p:nvSpPr>
        <p:spPr>
          <a:xfrm>
            <a:off x="6123265" y="3790474"/>
            <a:ext cx="504349" cy="504349"/>
          </a:xfrm>
          <a:prstGeom prst="roundRect">
            <a:avLst>
              <a:gd name="adj" fmla="val 90652"/>
            </a:avLst>
          </a:prstGeom>
          <a:solidFill>
            <a:srgbClr val="E9ECF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9353" y="3916561"/>
            <a:ext cx="252174" cy="2521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91382" y="4462939"/>
            <a:ext cx="2554605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Photographer (Фотограф)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291382" y="4893707"/>
            <a:ext cx="6180415" cy="53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Требует авторизации. Загрузка и управление фотографиями, скачивание без водяных знаков, создание альбомов.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627614" y="5935980"/>
            <a:ext cx="6012180" cy="168116"/>
          </a:xfrm>
          <a:prstGeom prst="roundRect">
            <a:avLst>
              <a:gd name="adj" fmla="val 15002"/>
            </a:avLst>
          </a:prstGeom>
          <a:solidFill>
            <a:srgbClr val="E9ECF2"/>
          </a:solidFill>
          <a:ln/>
        </p:spPr>
      </p:sp>
      <p:sp>
        <p:nvSpPr>
          <p:cNvPr id="17" name="Shape 12"/>
          <p:cNvSpPr/>
          <p:nvPr/>
        </p:nvSpPr>
        <p:spPr>
          <a:xfrm>
            <a:off x="6375440" y="5767864"/>
            <a:ext cx="504349" cy="504349"/>
          </a:xfrm>
          <a:prstGeom prst="roundRect">
            <a:avLst>
              <a:gd name="adj" fmla="val 90652"/>
            </a:avLst>
          </a:prstGeom>
          <a:solidFill>
            <a:srgbClr val="E9ECF2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1527" y="5893951"/>
            <a:ext cx="252174" cy="2521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43556" y="6440329"/>
            <a:ext cx="2607231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Admin (Администратор)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6543556" y="6871097"/>
            <a:ext cx="5928241" cy="53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Полные права. CRUD операции над всеми данными, доступ к панели администрирования, управление лицензиями и правами.</a:t>
            </a:r>
            <a:endParaRPr lang="en-US" sz="1300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1D854B9-B125-4E31-9A34-FF44DB4665CA}"/>
              </a:ext>
            </a:extLst>
          </p:cNvPr>
          <p:cNvSpPr/>
          <p:nvPr/>
        </p:nvSpPr>
        <p:spPr>
          <a:xfrm>
            <a:off x="12812684" y="7775171"/>
            <a:ext cx="1762298" cy="360218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0812" y="613529"/>
            <a:ext cx="2885122" cy="434578"/>
          </a:xfrm>
          <a:prstGeom prst="roundRect">
            <a:avLst>
              <a:gd name="adj" fmla="val 6161"/>
            </a:avLst>
          </a:prstGeom>
          <a:noFill/>
          <a:ln w="7620">
            <a:solidFill>
              <a:srgbClr val="3257B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2258" y="741521"/>
            <a:ext cx="178475" cy="1784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9911" y="688062"/>
            <a:ext cx="2334578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КЛЮЧЕВЫЕ ОСОБЕННОСТИ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80812" y="1137285"/>
            <a:ext cx="10846951" cy="697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Преимущества и инновации системы</a:t>
            </a:r>
            <a:endParaRPr lang="en-US" sz="4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0812" y="2169081"/>
            <a:ext cx="669250" cy="669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0812" y="3117175"/>
            <a:ext cx="3385542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Защита авторских прав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780812" y="3599497"/>
            <a:ext cx="6394966" cy="1070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Автоматическое добавление водяных знаков, управление лицензиями и отслеживание использования контента для надёжной защиты интеллектуальной собственности.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4622" y="2169081"/>
            <a:ext cx="669250" cy="669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4622" y="3117175"/>
            <a:ext cx="2856428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Быстрая навигация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7454622" y="3599497"/>
            <a:ext cx="6394966" cy="1070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 архитектура без перезагрузки страниц обеспечивает мгновенные переходы между разделами и плавный пользовательский опыт.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0812" y="5116473"/>
            <a:ext cx="669250" cy="669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80812" y="6064568"/>
            <a:ext cx="3148608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Детальная аналитика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780812" y="6546890"/>
            <a:ext cx="6394966" cy="1070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Отслеживание просмотров, скачиваний и взаимодействий пользователей с контентом для принятия обоснованных решений.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4622" y="5116473"/>
            <a:ext cx="669250" cy="6692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454622" y="6064568"/>
            <a:ext cx="2983468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Адаптивный дизайн</a:t>
            </a:r>
            <a:endParaRPr lang="en-US" sz="2150" dirty="0"/>
          </a:p>
        </p:txBody>
      </p:sp>
      <p:sp>
        <p:nvSpPr>
          <p:cNvPr id="17" name="Text 10"/>
          <p:cNvSpPr/>
          <p:nvPr/>
        </p:nvSpPr>
        <p:spPr>
          <a:xfrm>
            <a:off x="7454622" y="6546890"/>
            <a:ext cx="6394966" cy="1070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Элегантная тёмно-светлая тема с responsive layout обеспечивает комфортную работу на любых устройствах и экранах.</a:t>
            </a:r>
            <a:endParaRPr lang="en-US" sz="175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3D1878B-0E06-4D2E-BB0D-35FC20327CF8}"/>
              </a:ext>
            </a:extLst>
          </p:cNvPr>
          <p:cNvSpPr/>
          <p:nvPr/>
        </p:nvSpPr>
        <p:spPr>
          <a:xfrm>
            <a:off x="12812684" y="7775171"/>
            <a:ext cx="1762298" cy="360218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3130" y="530066"/>
            <a:ext cx="8427958" cy="600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Технические требования и запуск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1233130" y="1611630"/>
            <a:ext cx="3478530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Системные требования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233130" y="2164437"/>
            <a:ext cx="5847398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версии 18 или выше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3130" y="2539365"/>
            <a:ext cx="5847398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npm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для управления пакетами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33130" y="3159421"/>
            <a:ext cx="5847398" cy="31552"/>
          </a:xfrm>
          <a:prstGeom prst="rect">
            <a:avLst/>
          </a:prstGeom>
          <a:solidFill>
            <a:srgbClr val="15213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233130" y="3407212"/>
            <a:ext cx="2884646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Команды запуска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233130" y="3984069"/>
            <a:ext cx="5847398" cy="903684"/>
          </a:xfrm>
          <a:prstGeom prst="roundRect">
            <a:avLst>
              <a:gd name="adj" fmla="val 3192"/>
            </a:avLst>
          </a:prstGeom>
          <a:solidFill>
            <a:srgbClr val="EEEFF1"/>
          </a:solidFill>
          <a:ln/>
        </p:spPr>
      </p:sp>
      <p:sp>
        <p:nvSpPr>
          <p:cNvPr id="9" name="Shape 7"/>
          <p:cNvSpPr/>
          <p:nvPr/>
        </p:nvSpPr>
        <p:spPr>
          <a:xfrm>
            <a:off x="1223605" y="3984069"/>
            <a:ext cx="5866448" cy="903684"/>
          </a:xfrm>
          <a:prstGeom prst="roundRect">
            <a:avLst>
              <a:gd name="adj" fmla="val 3192"/>
            </a:avLst>
          </a:prstGeom>
          <a:solidFill>
            <a:srgbClr val="EEEFF1"/>
          </a:solidFill>
          <a:ln/>
        </p:spPr>
      </p:sp>
      <p:sp>
        <p:nvSpPr>
          <p:cNvPr id="10" name="Text 8"/>
          <p:cNvSpPr/>
          <p:nvPr/>
        </p:nvSpPr>
        <p:spPr>
          <a:xfrm>
            <a:off x="1415891" y="4128254"/>
            <a:ext cx="5481876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5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5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254" y="1635681"/>
            <a:ext cx="5847398" cy="5847398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0168868-0E12-46B6-A8EB-C66E72F11B92}"/>
              </a:ext>
            </a:extLst>
          </p:cNvPr>
          <p:cNvSpPr/>
          <p:nvPr/>
        </p:nvSpPr>
        <p:spPr>
          <a:xfrm>
            <a:off x="12812684" y="7775171"/>
            <a:ext cx="1762298" cy="360218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21" y="1784271"/>
            <a:ext cx="6945392" cy="453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Результаты и перспективы развития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507921" y="2455306"/>
            <a:ext cx="3991570" cy="2075423"/>
          </a:xfrm>
          <a:prstGeom prst="roundRect">
            <a:avLst>
              <a:gd name="adj" fmla="val 1234"/>
            </a:avLst>
          </a:prstGeom>
          <a:solidFill>
            <a:srgbClr val="E9ECF2"/>
          </a:solidFill>
          <a:ln/>
        </p:spPr>
      </p:sp>
      <p:sp>
        <p:nvSpPr>
          <p:cNvPr id="5" name="Text 2"/>
          <p:cNvSpPr/>
          <p:nvPr/>
        </p:nvSpPr>
        <p:spPr>
          <a:xfrm>
            <a:off x="652939" y="2600325"/>
            <a:ext cx="23686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Достигнутые результаты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2939" y="2914174"/>
            <a:ext cx="3701534" cy="1363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Создана полнофункциональная платформа для профессиональных фотографов с современным технологическим стеком, надёжной системой защиты прав и интуитивным интерфейсом управления контентом.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644509" y="2455307"/>
            <a:ext cx="3991570" cy="2075422"/>
          </a:xfrm>
          <a:prstGeom prst="roundRect">
            <a:avLst>
              <a:gd name="adj" fmla="val 1234"/>
            </a:avLst>
          </a:prstGeom>
          <a:solidFill>
            <a:srgbClr val="E9ECF2"/>
          </a:solidFill>
          <a:ln/>
        </p:spPr>
      </p:sp>
      <p:sp>
        <p:nvSpPr>
          <p:cNvPr id="8" name="Text 5"/>
          <p:cNvSpPr/>
          <p:nvPr/>
        </p:nvSpPr>
        <p:spPr>
          <a:xfrm>
            <a:off x="4789527" y="2600325"/>
            <a:ext cx="22474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Практическая ценность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89527" y="2914174"/>
            <a:ext cx="3701534" cy="1308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Система решает реальные задачи фотографов: организацию портфолио, защиту авторских прав, отслеживание популярности работ и эффективное взаимодействие с аудиторией.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7921" y="4800243"/>
            <a:ext cx="8128159" cy="1337212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11" name="Text 8"/>
          <p:cNvSpPr/>
          <p:nvPr/>
        </p:nvSpPr>
        <p:spPr>
          <a:xfrm>
            <a:off x="652939" y="4949721"/>
            <a:ext cx="218670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Направления развития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2939" y="5276687"/>
            <a:ext cx="7838123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Планируется добавление системы комментариев, интеграции с социальными сетями, расширенной аналитики, монетизации контента и AI-инструментов для автоматической обработки фотографий.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7920" y="6339839"/>
            <a:ext cx="8128159" cy="1030779"/>
          </a:xfrm>
          <a:prstGeom prst="roundRect">
            <a:avLst>
              <a:gd name="adj" fmla="val 2565"/>
            </a:avLst>
          </a:prstGeom>
          <a:solidFill>
            <a:srgbClr val="C3CFE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34" y="6514655"/>
            <a:ext cx="314983" cy="2519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79289" y="6514808"/>
            <a:ext cx="7511772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Спасибо за внимание!</a:t>
            </a:r>
            <a:r>
              <a:rPr lang="en-US" sz="1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Проект демонстрирует современные подходы к разработке веб-приложений с акцентом на безопасность, производительность и пользовательский опыт.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724</Words>
  <Application>Microsoft Office PowerPoint</Application>
  <PresentationFormat>Произвольный</PresentationFormat>
  <Paragraphs>94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Calibri</vt:lpstr>
      <vt:lpstr>Roboto</vt:lpstr>
      <vt:lpstr>Arial</vt:lpstr>
      <vt:lpstr>Consolas</vt:lpstr>
      <vt:lpstr>Roboto Slab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Никита Смирнов</cp:lastModifiedBy>
  <cp:revision>4</cp:revision>
  <dcterms:created xsi:type="dcterms:W3CDTF">2026-01-06T21:30:45Z</dcterms:created>
  <dcterms:modified xsi:type="dcterms:W3CDTF">2026-06-11T13:33:27Z</dcterms:modified>
</cp:coreProperties>
</file>